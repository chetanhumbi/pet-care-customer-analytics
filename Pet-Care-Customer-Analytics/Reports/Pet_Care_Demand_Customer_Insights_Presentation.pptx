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749039" cy="6858000"/>
          </a:xfrm>
          <a:prstGeom prst="rect">
            <a:avLst/>
          </a:prstGeom>
          <a:solidFill>
            <a:srgbClr val="36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Arc 2"/>
          <p:cNvSpPr/>
          <p:nvPr/>
        </p:nvSpPr>
        <p:spPr>
          <a:xfrm>
            <a:off x="2606040" y="-320040"/>
            <a:ext cx="1828800" cy="1828800"/>
          </a:xfrm>
          <a:prstGeom prst="arc">
            <a:avLst/>
          </a:prstGeom>
          <a:noFill/>
          <a:ln w="63500">
            <a:solidFill>
              <a:srgbClr val="F4E7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60520" y="1234440"/>
            <a:ext cx="722376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23493C"/>
                </a:solidFill>
                <a:latin typeface="Aptos Display"/>
              </a:defRPr>
            </a:pPr>
            <a:r>
              <a:t>Pet Care Demand &amp; Customer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87952" y="2514600"/>
            <a:ext cx="6675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>
                <a:solidFill>
                  <a:srgbClr val="5F5F5F"/>
                </a:solidFill>
              </a:defRPr>
            </a:pPr>
            <a:r>
              <a:t>Power BI Analytics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87952" y="3246120"/>
            <a:ext cx="66751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A2A2A"/>
                </a:solidFill>
              </a:defRPr>
            </a:pPr>
            <a:r>
              <a:t>Customer engagement • segmentation • pet food demand • subscriptions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4800600"/>
            <a:ext cx="166420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270248" y="4910328"/>
            <a:ext cx="1444752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3493C"/>
                </a:solidFill>
                <a:latin typeface="Aptos Display"/>
              </a:defRPr>
            </a:pPr>
            <a:r>
              <a:t>11,168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70248" y="5367528"/>
            <a:ext cx="14447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71031" y="4800600"/>
            <a:ext cx="166420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80759" y="4910328"/>
            <a:ext cx="1444752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3493C"/>
                </a:solidFill>
                <a:latin typeface="Aptos Display"/>
              </a:defRPr>
            </a:pPr>
            <a:r>
              <a:t>13,087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59" y="5367528"/>
            <a:ext cx="14447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  <a:latin typeface="Aptos"/>
              </a:defRPr>
            </a:pPr>
            <a:r>
              <a:t>Pets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81544" y="4800600"/>
            <a:ext cx="166420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91271" y="4910328"/>
            <a:ext cx="1444752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3493C"/>
                </a:solidFill>
                <a:latin typeface="Aptos Display"/>
              </a:defRPr>
            </a:pPr>
            <a:r>
              <a:t>49,042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91271" y="5367528"/>
            <a:ext cx="14447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  <a:latin typeface="Aptos"/>
              </a:defRPr>
            </a:pPr>
            <a:r>
              <a:t>Orders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92055" y="4800600"/>
            <a:ext cx="1664208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701783" y="4910328"/>
            <a:ext cx="1444752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3493C"/>
                </a:solidFill>
                <a:latin typeface="Aptos Display"/>
              </a:defRPr>
            </a:pPr>
            <a:r>
              <a:t>60.43%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01783" y="5367528"/>
            <a:ext cx="144475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  <a:latin typeface="Aptos"/>
              </a:defRPr>
            </a:pPr>
            <a:r>
              <a:t>Active subscription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7D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881360" y="6547104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5F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6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Executive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73736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4E7A4"/>
                </a:solidFill>
                <a:latin typeface="Aptos"/>
              </a:defRPr>
            </a:pPr>
            <a:r>
              <a:t>Portfolio-ready 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96012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12648" y="1069848"/>
            <a:ext cx="1837943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3493C"/>
                </a:solidFill>
                <a:latin typeface="Aptos Display"/>
              </a:defRPr>
            </a:pPr>
            <a:r>
              <a:t>11,168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527048"/>
            <a:ext cx="1837943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  <a:latin typeface="Aptos"/>
              </a:defRPr>
            </a:pPr>
            <a:r>
              <a:t>Total customers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07208" y="96012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916936" y="1069848"/>
            <a:ext cx="1837943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3493C"/>
                </a:solidFill>
                <a:latin typeface="Aptos Display"/>
              </a:defRPr>
            </a:pPr>
            <a:r>
              <a:t>13,087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16936" y="1527048"/>
            <a:ext cx="1837943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  <a:latin typeface="Aptos"/>
              </a:defRPr>
            </a:pPr>
            <a:r>
              <a:t>Total pets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11496" y="96012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221224" y="1069848"/>
            <a:ext cx="1837943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3493C"/>
                </a:solidFill>
                <a:latin typeface="Aptos Display"/>
              </a:defRPr>
            </a:pPr>
            <a:r>
              <a:t>49,042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1224" y="1527048"/>
            <a:ext cx="1837943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  <a:latin typeface="Aptos"/>
              </a:defRPr>
            </a:pPr>
            <a:r>
              <a:t>Total orders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15784" y="96012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525512" y="1069848"/>
            <a:ext cx="1837943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3493C"/>
                </a:solidFill>
                <a:latin typeface="Aptos Display"/>
              </a:defRPr>
            </a:pPr>
            <a:r>
              <a:t>1.02bn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2" y="1527048"/>
            <a:ext cx="1837943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  <a:latin typeface="Aptos"/>
              </a:defRPr>
            </a:pPr>
            <a:r>
              <a:t>Total order calories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720072" y="960120"/>
            <a:ext cx="20574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3CC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829800" y="1069848"/>
            <a:ext cx="1837943" cy="4754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23493C"/>
                </a:solidFill>
                <a:latin typeface="Aptos Display"/>
              </a:defRPr>
            </a:pPr>
            <a:r>
              <a:t>60.43%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1527048"/>
            <a:ext cx="1837943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5F5F"/>
                </a:solidFill>
                <a:latin typeface="Aptos"/>
              </a:defRPr>
            </a:pPr>
            <a:r>
              <a:t>Active subscription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2514600"/>
            <a:ext cx="5394960" cy="34747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23493C"/>
                </a:solidFill>
                <a:latin typeface="Aptos Display"/>
              </a:defRPr>
            </a:pPr>
            <a:r>
              <a:t>What the dashboards tell us</a:t>
            </a:r>
          </a:p>
          <a:p>
            <a:pPr>
              <a:spcAft>
                <a:spcPts val="9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t>• Mature pets generate the largest share of orders, calories, web sessions and wet-food updates.</a:t>
            </a:r>
          </a:p>
          <a:p>
            <a:pPr>
              <a:spcAft>
                <a:spcPts val="9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t>• Regular and high-frequency customers together account for most orders, indicating a strong repeat-purchase base.</a:t>
            </a:r>
          </a:p>
          <a:p>
            <a:pPr>
              <a:spcAft>
                <a:spcPts val="9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t>• Superpremium is the largest food-tier contributor, representing 58.18% of orders shown on the overview page.</a:t>
            </a:r>
          </a:p>
          <a:p>
            <a:pPr>
              <a:spcAft>
                <a:spcPts val="9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t>• Active subscriptions cover 60.43% of customers/pets shown in the dashboard, while 39.57% are non-subscribers.</a:t>
            </a:r>
          </a:p>
          <a:p>
            <a:pPr>
              <a:spcAft>
                <a:spcPts val="9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t>• Order activity rises strongly over the displayed period, with the highest daily values appearing around late 2019 / early 2020.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2514600"/>
            <a:ext cx="507492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7C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37960" y="2606040"/>
            <a:ext cx="4800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3493C"/>
                </a:solidFill>
              </a:defRPr>
            </a:pPr>
            <a:r>
              <a:t>Largest demand driver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37960" y="2898648"/>
            <a:ext cx="4800600" cy="667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2A2A2A"/>
                </a:solidFill>
              </a:defRPr>
            </a:pPr>
            <a:r>
              <a:t>Mature life stage: about 29K orders and ~0.61bn calories.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794760"/>
            <a:ext cx="507492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66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37960" y="3886200"/>
            <a:ext cx="4800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3493C"/>
                </a:solidFill>
              </a:defRPr>
            </a:pPr>
            <a:r>
              <a:t>Customer behavior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178808"/>
            <a:ext cx="472270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2A2A"/>
                </a:solidFill>
              </a:defRPr>
            </a:pPr>
            <a:r>
              <a:rPr dirty="0"/>
              <a:t>High-frequency and regular segments show the strongest order and engagement volumes.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5074920"/>
            <a:ext cx="507492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6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60" y="5166359"/>
            <a:ext cx="48006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3493C"/>
                </a:solidFill>
              </a:defRPr>
            </a:pPr>
            <a:r>
              <a:t>Commercial opportunity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5458968"/>
            <a:ext cx="452797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2A2A"/>
                </a:solidFill>
              </a:defRPr>
            </a:pPr>
            <a:r>
              <a:rPr dirty="0"/>
              <a:t>A 39.57% non-subscriber share leaves a visible audience for subscription conversion campaigns.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7D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881360" y="6547104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5F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6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Dashboard 1 — Customer Engagement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73736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4E7A4"/>
                </a:solidFill>
                <a:latin typeface="Aptos"/>
              </a:defRPr>
            </a:pPr>
            <a:r>
              <a:t>Digital behavior &amp; engagement</a:t>
            </a:r>
          </a:p>
        </p:txBody>
      </p:sp>
      <p:pic>
        <p:nvPicPr>
          <p:cNvPr id="5" name="Picture 4" descr="Screenshot 2026-09-20 1755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32098"/>
            <a:ext cx="7315200" cy="411384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09560" y="1051560"/>
            <a:ext cx="3794760" cy="502920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23493C"/>
                </a:solidFill>
                <a:latin typeface="Aptos Display"/>
              </a:defRPr>
            </a:pPr>
            <a:r>
              <a:t>Key insights</a:t>
            </a:r>
          </a:p>
          <a:p>
            <a:pPr>
              <a:spcAft>
                <a:spcPts val="900"/>
              </a:spcAft>
              <a:defRPr sz="1300">
                <a:solidFill>
                  <a:srgbClr val="2A2A2A"/>
                </a:solidFill>
                <a:latin typeface="Aptos"/>
              </a:defRPr>
            </a:pPr>
            <a:r>
              <a:t>• Mature customers show the highest website engagement: roughly 2.3M minutes and 58K web sessions.</a:t>
            </a:r>
          </a:p>
          <a:p>
            <a:pPr>
              <a:spcAft>
                <a:spcPts val="900"/>
              </a:spcAft>
              <a:defRPr sz="1300">
                <a:solidFill>
                  <a:srgbClr val="2A2A2A"/>
                </a:solidFill>
                <a:latin typeface="Aptos"/>
              </a:defRPr>
            </a:pPr>
            <a:r>
              <a:t>• Half-maturity follows at about 1.0M website minutes and 20K sessions.</a:t>
            </a:r>
          </a:p>
          <a:p>
            <a:pPr>
              <a:spcAft>
                <a:spcPts val="900"/>
              </a:spcAft>
              <a:defRPr sz="1300">
                <a:solidFill>
                  <a:srgbClr val="2A2A2A"/>
                </a:solidFill>
                <a:latin typeface="Aptos"/>
              </a:defRPr>
            </a:pPr>
            <a:r>
              <a:t>• Wet-food updates are concentrated in the mature stage (1,684), far above other life stages.</a:t>
            </a:r>
          </a:p>
          <a:p>
            <a:pPr>
              <a:spcAft>
                <a:spcPts val="900"/>
              </a:spcAft>
              <a:defRPr sz="1300">
                <a:solidFill>
                  <a:srgbClr val="2A2A2A"/>
                </a:solidFill>
                <a:latin typeface="Aptos"/>
              </a:defRPr>
            </a:pPr>
            <a:r>
              <a:t>• High Frequency customers lead website time at about 1.87M minutes, slightly above Regular at 1.78M.</a:t>
            </a:r>
          </a:p>
          <a:p>
            <a:pPr>
              <a:spcAft>
                <a:spcPts val="900"/>
              </a:spcAft>
              <a:defRPr sz="1300">
                <a:solidFill>
                  <a:srgbClr val="2A2A2A"/>
                </a:solidFill>
                <a:latin typeface="Aptos"/>
              </a:defRPr>
            </a:pPr>
            <a:r>
              <a:t>• Engagement dips sharply around April and then climbs through the later months, reaching about 2.7M minutes in December.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7D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5F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6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Dashboard 2 — Customer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73736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4E7A4"/>
                </a:solidFill>
                <a:latin typeface="Aptos"/>
              </a:defRPr>
            </a:pPr>
            <a:r>
              <a:t>Frequency &amp; value behavior</a:t>
            </a:r>
          </a:p>
        </p:txBody>
      </p:sp>
      <p:pic>
        <p:nvPicPr>
          <p:cNvPr id="5" name="Picture 4" descr="Screenshot 2026-09-20 1755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36509"/>
            <a:ext cx="7360920" cy="41507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09560" y="1051560"/>
            <a:ext cx="3749039" cy="502920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23493C"/>
                </a:solidFill>
                <a:latin typeface="Aptos Display"/>
              </a:defRPr>
            </a:pPr>
            <a:r>
              <a:t>Key insights</a:t>
            </a:r>
          </a:p>
          <a:p>
            <a:pPr>
              <a:spcAft>
                <a:spcPts val="900"/>
              </a:spcAft>
              <a:defRPr sz="1300">
                <a:solidFill>
                  <a:srgbClr val="2A2A2A"/>
                </a:solidFill>
                <a:latin typeface="Aptos"/>
              </a:defRPr>
            </a:pPr>
            <a:r>
              <a:t>• Regular customers contribute about 19K orders, followed closely by High Frequency at about 18K.</a:t>
            </a:r>
          </a:p>
          <a:p>
            <a:pPr>
              <a:spcAft>
                <a:spcPts val="900"/>
              </a:spcAft>
              <a:defRPr sz="1300">
                <a:solidFill>
                  <a:srgbClr val="2A2A2A"/>
                </a:solidFill>
                <a:latin typeface="Aptos"/>
              </a:defRPr>
            </a:pPr>
            <a:r>
              <a:t>• High Frequency produces the highest total order calories at ~0.41bn, slightly above Regular at ~0.39bn.</a:t>
            </a:r>
          </a:p>
          <a:p>
            <a:pPr>
              <a:spcAft>
                <a:spcPts val="900"/>
              </a:spcAft>
              <a:defRPr sz="1300">
                <a:solidFill>
                  <a:srgbClr val="2A2A2A"/>
                </a:solidFill>
                <a:latin typeface="Aptos"/>
              </a:defRPr>
            </a:pPr>
            <a:r>
              <a:t>• Regular customers have the highest average wet trays (6.1), versus 5.3 for Occasional and 4.8 for High Frequency.</a:t>
            </a:r>
          </a:p>
          <a:p>
            <a:pPr>
              <a:spcAft>
                <a:spcPts val="900"/>
              </a:spcAft>
              <a:defRPr sz="1300">
                <a:solidFill>
                  <a:srgbClr val="2A2A2A"/>
                </a:solidFill>
                <a:latin typeface="Aptos"/>
              </a:defRPr>
            </a:pPr>
            <a:r>
              <a:t>• Subscription penetration is visible across every segment, with the largest customer counts in Occasional and Regular.</a:t>
            </a:r>
          </a:p>
          <a:p>
            <a:pPr>
              <a:spcAft>
                <a:spcPts val="900"/>
              </a:spcAft>
              <a:defRPr sz="1300">
                <a:solidFill>
                  <a:srgbClr val="2A2A2A"/>
                </a:solidFill>
                <a:latin typeface="Aptos"/>
              </a:defRPr>
            </a:pPr>
            <a:r>
              <a:t>• Across food tiers, Regular customers generate the highest order volume; High Frequency customers also show strong premium-tier demand.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7D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5F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6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Dashboard 3 — Pet Food Demand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73736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4E7A4"/>
                </a:solidFill>
                <a:latin typeface="Aptos"/>
              </a:defRPr>
            </a:pPr>
            <a:r>
              <a:t>Life stage • food tier • breed size</a:t>
            </a:r>
          </a:p>
        </p:txBody>
      </p:sp>
      <p:pic>
        <p:nvPicPr>
          <p:cNvPr id="5" name="Picture 4" descr="Screenshot 2026-09-20 1755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57821"/>
            <a:ext cx="7315200" cy="41081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09560" y="1051560"/>
            <a:ext cx="3749039" cy="502920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23493C"/>
                </a:solidFill>
                <a:latin typeface="Aptos Display"/>
              </a:defRPr>
            </a:pPr>
            <a:r>
              <a:t>Key insights</a:t>
            </a:r>
          </a:p>
          <a:p>
            <a:pPr>
              <a:spcAft>
                <a:spcPts val="900"/>
              </a:spcAft>
              <a:defRPr sz="1300">
                <a:solidFill>
                  <a:srgbClr val="2A2A2A"/>
                </a:solidFill>
                <a:latin typeface="Aptos"/>
              </a:defRPr>
            </a:pPr>
            <a:r>
              <a:t>• Mature pets dominate total order calories at roughly 0.61bn, versus ~0.20bn for half-maturity.</a:t>
            </a:r>
          </a:p>
          <a:p>
            <a:pPr>
              <a:spcAft>
                <a:spcPts val="900"/>
              </a:spcAft>
              <a:defRPr sz="1300">
                <a:solidFill>
                  <a:srgbClr val="2A2A2A"/>
                </a:solidFill>
                <a:latin typeface="Aptos"/>
              </a:defRPr>
            </a:pPr>
            <a:r>
              <a:t>• Average calories per order are highest for half-maturity (~23K), followed by senior and mature (~21K each).</a:t>
            </a:r>
          </a:p>
          <a:p>
            <a:pPr>
              <a:spcAft>
                <a:spcPts val="900"/>
              </a:spcAft>
              <a:defRPr sz="1300">
                <a:solidFill>
                  <a:srgbClr val="2A2A2A"/>
                </a:solidFill>
                <a:latin typeface="Aptos"/>
              </a:defRPr>
            </a:pPr>
            <a:r>
              <a:t>• Superpremium is the largest food tier by orders, with 28,531 orders (58.18%).</a:t>
            </a:r>
          </a:p>
          <a:p>
            <a:pPr>
              <a:spcAft>
                <a:spcPts val="900"/>
              </a:spcAft>
              <a:defRPr sz="1300">
                <a:solidFill>
                  <a:srgbClr val="2A2A2A"/>
                </a:solidFill>
                <a:latin typeface="Aptos"/>
              </a:defRPr>
            </a:pPr>
            <a:r>
              <a:t>• The mature life stage has the highest order volume across breed sizes, especially medium and small pets.</a:t>
            </a:r>
          </a:p>
          <a:p>
            <a:pPr>
              <a:spcAft>
                <a:spcPts val="900"/>
              </a:spcAft>
              <a:defRPr sz="1300">
                <a:solidFill>
                  <a:srgbClr val="2A2A2A"/>
                </a:solidFill>
                <a:latin typeface="Aptos"/>
              </a:defRPr>
            </a:pPr>
            <a:r>
              <a:t>• Wet-tray averages are highest for superpremium (5.8), followed by mid (5.2) and premium (4.7).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7D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5F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6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Dashboard 4 — Executive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73736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4E7A4"/>
                </a:solidFill>
                <a:latin typeface="Aptos"/>
              </a:defRPr>
            </a:pPr>
            <a:r>
              <a:t>Orders, customers &amp; subscriptions</a:t>
            </a:r>
          </a:p>
        </p:txBody>
      </p:sp>
      <p:pic>
        <p:nvPicPr>
          <p:cNvPr id="5" name="Picture 4" descr="Screenshot 2026-09-20 1754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550649"/>
            <a:ext cx="7315200" cy="412246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09560" y="1051560"/>
            <a:ext cx="3749039" cy="502920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23493C"/>
                </a:solidFill>
                <a:latin typeface="Aptos Display"/>
              </a:defRPr>
            </a:pPr>
            <a:r>
              <a:t>Key insights</a:t>
            </a:r>
          </a:p>
          <a:p>
            <a:pPr>
              <a:spcAft>
                <a:spcPts val="900"/>
              </a:spcAft>
              <a:defRPr sz="1300">
                <a:solidFill>
                  <a:srgbClr val="2A2A2A"/>
                </a:solidFill>
                <a:latin typeface="Aptos"/>
              </a:defRPr>
            </a:pPr>
            <a:r>
              <a:t>• The dashboard combines 11,168 customers, 13,087 pets and 49,042 orders into a single management view.</a:t>
            </a:r>
          </a:p>
          <a:p>
            <a:pPr>
              <a:spcAft>
                <a:spcPts val="900"/>
              </a:spcAft>
              <a:defRPr sz="1300">
                <a:solidFill>
                  <a:srgbClr val="2A2A2A"/>
                </a:solidFill>
                <a:latin typeface="Aptos"/>
              </a:defRPr>
            </a:pPr>
            <a:r>
              <a:t>• Active subscription share is 60.43%, while the non-active share is 39.57%.</a:t>
            </a:r>
          </a:p>
          <a:p>
            <a:pPr>
              <a:spcAft>
                <a:spcPts val="900"/>
              </a:spcAft>
              <a:defRPr sz="1300">
                <a:solidFill>
                  <a:srgbClr val="2A2A2A"/>
                </a:solidFill>
                <a:latin typeface="Aptos"/>
              </a:defRPr>
            </a:pPr>
            <a:r>
              <a:t>• Superpremium accounts for 29K orders and 58.18% of the food-tier mix shown.</a:t>
            </a:r>
          </a:p>
          <a:p>
            <a:pPr>
              <a:spcAft>
                <a:spcPts val="900"/>
              </a:spcAft>
              <a:defRPr sz="1300">
                <a:solidFill>
                  <a:srgbClr val="2A2A2A"/>
                </a:solidFill>
                <a:latin typeface="Aptos"/>
              </a:defRPr>
            </a:pPr>
            <a:r>
              <a:t>• Mature pets contribute 29K orders, making life stage a major demand dimension.</a:t>
            </a:r>
          </a:p>
          <a:p>
            <a:pPr>
              <a:spcAft>
                <a:spcPts val="900"/>
              </a:spcAft>
              <a:defRPr sz="1300">
                <a:solidFill>
                  <a:srgbClr val="2A2A2A"/>
                </a:solidFill>
                <a:latin typeface="Aptos"/>
              </a:defRPr>
            </a:pPr>
            <a:r>
              <a:t>• Order activity increases substantially across the displayed timeline, with several late-period daily peaks above 400 orders.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7D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881360" y="6547104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5F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6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Cross-Dashboard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73736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4E7A4"/>
                </a:solidFill>
                <a:latin typeface="Aptos"/>
              </a:defRPr>
            </a:pPr>
            <a:r>
              <a:t>Connecting customer behavior to demand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97280"/>
            <a:ext cx="352044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7C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3246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3493C"/>
                </a:solidFill>
              </a:defRPr>
            </a:pPr>
            <a:r>
              <a:t>1  Mature = core demand 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81328"/>
            <a:ext cx="29086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2A2A"/>
                </a:solidFill>
              </a:defRPr>
            </a:pPr>
            <a:r>
              <a:rPr dirty="0"/>
              <a:t>Mature life stage leads orders, calories, web sessions, website minutes and wet-food updates.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097280"/>
            <a:ext cx="352044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66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1188720"/>
            <a:ext cx="3246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3493C"/>
                </a:solidFill>
              </a:defRPr>
            </a:pPr>
            <a:r>
              <a:t>2  Repeat behavior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481328"/>
            <a:ext cx="307848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2A2A"/>
                </a:solidFill>
              </a:defRPr>
            </a:pPr>
            <a:r>
              <a:rPr dirty="0"/>
              <a:t>Regular and High Frequency customers together generate the majority of observed orders.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097280"/>
            <a:ext cx="352044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6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2" name="TextBox 11"/>
          <p:cNvSpPr txBox="1"/>
          <p:nvPr/>
        </p:nvSpPr>
        <p:spPr>
          <a:xfrm>
            <a:off x="8229600" y="1188720"/>
            <a:ext cx="3246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3493C"/>
                </a:solidFill>
              </a:defRPr>
            </a:pPr>
            <a:r>
              <a:t>3  Premium mix is strong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481328"/>
            <a:ext cx="294349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2A2A"/>
                </a:solidFill>
              </a:defRPr>
            </a:pPr>
            <a:r>
              <a:rPr dirty="0" err="1"/>
              <a:t>Superpremium</a:t>
            </a:r>
            <a:r>
              <a:rPr dirty="0"/>
              <a:t> contributes 28,531 orders, or 58.18% of the displayed food-tier mix.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788920"/>
            <a:ext cx="352044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66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2880360"/>
            <a:ext cx="3246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3493C"/>
                </a:solidFill>
              </a:defRPr>
            </a:pPr>
            <a:r>
              <a:t>4  Subscription penetration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172968"/>
            <a:ext cx="31612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2A2A"/>
                </a:solidFill>
              </a:defRPr>
            </a:pPr>
            <a:r>
              <a:rPr dirty="0"/>
              <a:t>60.43% active subscription share indicates subscriptions are already a meaningful part of the customer base.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43400" y="2788920"/>
            <a:ext cx="352044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7C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80560" y="2880360"/>
            <a:ext cx="3246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3493C"/>
                </a:solidFill>
              </a:defRPr>
            </a:pPr>
            <a:r>
              <a:t>5  Engagement rebounds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172968"/>
            <a:ext cx="29391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2A2A"/>
                </a:solidFill>
              </a:defRPr>
            </a:pPr>
            <a:r>
              <a:rPr dirty="0"/>
              <a:t>Website minutes fall sharply around April, then rise steadily toward year-end.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2788920"/>
            <a:ext cx="352044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6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29600" y="2880360"/>
            <a:ext cx="3246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3493C"/>
                </a:solidFill>
              </a:defRPr>
            </a:pPr>
            <a:r>
              <a:t>6  Demand is concentrated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172968"/>
            <a:ext cx="282157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2A2A"/>
                </a:solidFill>
              </a:defRPr>
            </a:pPr>
            <a:r>
              <a:rPr dirty="0"/>
              <a:t>A small number of life-stage and food-tier combinations account for a large share of activity.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617720"/>
            <a:ext cx="10881360" cy="123444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23493C"/>
                </a:solidFill>
                <a:latin typeface="Aptos Display"/>
              </a:defRPr>
            </a:pPr>
            <a:r>
              <a:t>Overall analytical takeaway</a:t>
            </a:r>
          </a:p>
          <a:p>
            <a:pPr>
              <a:spcAft>
                <a:spcPts val="900"/>
              </a:spcAft>
              <a:defRPr sz="1500">
                <a:solidFill>
                  <a:srgbClr val="2A2A2A"/>
                </a:solidFill>
                <a:latin typeface="Aptos"/>
              </a:defRPr>
            </a:pPr>
            <a:r>
              <a:t>• Analytical takeaway: segment customers by life stage × frequency × subscription status, then tailor product and retention actions to each combination.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7D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881360" y="6547104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5F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366F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80467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  <a:latin typeface="Aptos Display"/>
              </a:defRPr>
            </a:pPr>
            <a:r>
              <a:t>Business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79" y="173736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>
                <a:solidFill>
                  <a:srgbClr val="F4E7A4"/>
                </a:solidFill>
                <a:latin typeface="Aptos"/>
              </a:defRPr>
            </a:pPr>
            <a:r>
              <a:t>From dashboard findings to actions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051560"/>
            <a:ext cx="525780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66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4983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3493C"/>
                </a:solidFill>
              </a:defRPr>
            </a:pPr>
            <a:r>
              <a:t>Subscription conversion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35607"/>
            <a:ext cx="47374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2A2A"/>
                </a:solidFill>
              </a:defRPr>
            </a:pPr>
            <a:r>
              <a:rPr dirty="0"/>
              <a:t>Target the 39.57% non-subscriber audience with trials, flexible plans and reorder reminders.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51560"/>
            <a:ext cx="525780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7C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55080" y="1143000"/>
            <a:ext cx="4983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3493C"/>
                </a:solidFill>
              </a:defRPr>
            </a:pPr>
            <a:r>
              <a:t>Retention of high-value users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435607"/>
            <a:ext cx="48789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2A2A"/>
                </a:solidFill>
              </a:defRPr>
            </a:pPr>
            <a:r>
              <a:rPr dirty="0"/>
              <a:t>Create loyalty benefits for High Frequency and Regular customers, using order frequency and spend/value signals.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651760"/>
            <a:ext cx="525780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6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743200"/>
            <a:ext cx="4983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3493C"/>
                </a:solidFill>
              </a:defRPr>
            </a:pPr>
            <a:r>
              <a:t>Life-stage personalization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35808"/>
            <a:ext cx="473746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2A2A"/>
                </a:solidFill>
              </a:defRPr>
            </a:pPr>
            <a:r>
              <a:rPr dirty="0"/>
              <a:t>Prioritize mature-stage product recommendations while building stage-specific bundles for half-maturity and senior pets.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25780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66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55080" y="2743200"/>
            <a:ext cx="4983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3493C"/>
                </a:solidFill>
              </a:defRPr>
            </a:pPr>
            <a:r>
              <a:t>Premium-tier strategy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035808"/>
            <a:ext cx="4678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2A2A"/>
                </a:solidFill>
              </a:defRPr>
            </a:pPr>
            <a:r>
              <a:rPr dirty="0"/>
              <a:t>Use the strong </a:t>
            </a:r>
            <a:r>
              <a:rPr dirty="0" err="1"/>
              <a:t>superpremium</a:t>
            </a:r>
            <a:r>
              <a:rPr dirty="0"/>
              <a:t> demand to test bundles, cross-sell complementary products and monitor repeat purchase.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251960"/>
            <a:ext cx="525780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7C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4343400"/>
            <a:ext cx="4983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3493C"/>
                </a:solidFill>
              </a:defRPr>
            </a:pPr>
            <a:r>
              <a:t>Engagement campaigns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636008"/>
            <a:ext cx="492034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2A2A"/>
                </a:solidFill>
              </a:defRPr>
            </a:pPr>
            <a:r>
              <a:rPr dirty="0"/>
              <a:t>Investigate the April engagement dip and replicate the stronger engagement pattern observed later in the year.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4251960"/>
            <a:ext cx="525780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69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5080" y="4343400"/>
            <a:ext cx="4983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3493C"/>
                </a:solidFill>
              </a:defRPr>
            </a:pPr>
            <a:r>
              <a:t>Segment-based reporting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636008"/>
            <a:ext cx="487897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2A2A"/>
                </a:solidFill>
              </a:defRPr>
            </a:pPr>
            <a:r>
              <a:rPr dirty="0"/>
              <a:t>Track KPIs by frequency, subscription, life stage, food tier and breed size rather than relying only on overall totals.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7D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881360" y="6547104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5F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349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13258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3493C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48840"/>
            <a:ext cx="6583680" cy="3474720"/>
          </a:xfrm>
          <a:prstGeom prst="rect">
            <a:avLst/>
          </a:prstGeom>
          <a:noFill/>
        </p:spPr>
        <p:txBody>
          <a:bodyPr wrap="square" lIns="73152" rIns="4572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23493C"/>
                </a:solidFill>
                <a:latin typeface="Aptos Display"/>
              </a:defRPr>
            </a:pPr>
            <a:r>
              <a:t>Final project story</a:t>
            </a:r>
          </a:p>
          <a:p>
            <a:pPr>
              <a:spcAft>
                <a:spcPts val="900"/>
              </a:spcAft>
              <a:defRPr sz="1600">
                <a:solidFill>
                  <a:srgbClr val="2A2A2A"/>
                </a:solidFill>
                <a:latin typeface="Aptos"/>
              </a:defRPr>
            </a:pPr>
            <a:r>
              <a:t>• The dashboards show a strong repeat-order customer base with meaningful subscription penetration.</a:t>
            </a:r>
          </a:p>
          <a:p>
            <a:pPr>
              <a:spcAft>
                <a:spcPts val="900"/>
              </a:spcAft>
              <a:defRPr sz="1600">
                <a:solidFill>
                  <a:srgbClr val="2A2A2A"/>
                </a:solidFill>
                <a:latin typeface="Aptos"/>
              </a:defRPr>
            </a:pPr>
            <a:r>
              <a:t>• Mature pets are the dominant demand and engagement segment across multiple measures.</a:t>
            </a:r>
          </a:p>
          <a:p>
            <a:pPr>
              <a:spcAft>
                <a:spcPts val="900"/>
              </a:spcAft>
              <a:defRPr sz="1600">
                <a:solidFill>
                  <a:srgbClr val="2A2A2A"/>
                </a:solidFill>
                <a:latin typeface="Aptos"/>
              </a:defRPr>
            </a:pPr>
            <a:r>
              <a:t>• Superpremium is the largest food-tier category by order volume.</a:t>
            </a:r>
          </a:p>
          <a:p>
            <a:pPr>
              <a:spcAft>
                <a:spcPts val="900"/>
              </a:spcAft>
              <a:defRPr sz="1600">
                <a:solidFill>
                  <a:srgbClr val="2A2A2A"/>
                </a:solidFill>
                <a:latin typeface="Aptos"/>
              </a:defRPr>
            </a:pPr>
            <a:r>
              <a:t>• Customer frequency and subscription status provide useful dimensions for retention and conversion strategies.</a:t>
            </a:r>
          </a:p>
          <a:p>
            <a:pPr>
              <a:spcAft>
                <a:spcPts val="900"/>
              </a:spcAft>
              <a:defRPr sz="1600">
                <a:solidFill>
                  <a:srgbClr val="2A2A2A"/>
                </a:solidFill>
                <a:latin typeface="Aptos"/>
              </a:defRPr>
            </a:pPr>
            <a:r>
              <a:t>• The Power BI report converts raw transactional data into an actionable view of customers, pets, products and demand trends.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26679" y="2148840"/>
            <a:ext cx="365760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66F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863840" y="2240280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3493C"/>
                </a:solidFill>
              </a:defRPr>
            </a:pPr>
            <a:r>
              <a:t>Portfolio positioning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0" y="2532888"/>
            <a:ext cx="32134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2A2A"/>
                </a:solidFill>
              </a:defRPr>
            </a:pPr>
            <a:r>
              <a:rPr dirty="0"/>
              <a:t>Demonstrates KPI design, segmentation, trend analysis, cross-filtered reporting and business insight generation.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26679" y="3703320"/>
            <a:ext cx="3657600" cy="1325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7CB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863840" y="3794759"/>
            <a:ext cx="3383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3493C"/>
                </a:solidFill>
              </a:defRPr>
            </a:pPr>
            <a:r>
              <a:t>Interview talking 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4087368"/>
            <a:ext cx="3213463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2A2A2A"/>
                </a:solidFill>
              </a:defRPr>
            </a:pPr>
            <a:r>
              <a:rPr dirty="0"/>
              <a:t>“I used customer frequency, pet life stage, subscription and food-tier dimensions to identify demand concentration and opportunities for retention and conversion.”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534924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3493C"/>
                </a:solidFill>
              </a:defRPr>
            </a:pPr>
            <a:r>
              <a:t>Thank You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519672"/>
            <a:ext cx="11155680" cy="18288"/>
          </a:xfrm>
          <a:prstGeom prst="rect">
            <a:avLst/>
          </a:prstGeom>
          <a:solidFill>
            <a:srgbClr val="D7D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881360" y="6547104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F5F5F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1026</Words>
  <Application>Microsoft Office PowerPoint</Application>
  <PresentationFormat>Widescreen</PresentationFormat>
  <Paragraphs>118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Pranav Nikam</cp:lastModifiedBy>
  <cp:revision>2</cp:revision>
  <dcterms:created xsi:type="dcterms:W3CDTF">2013-01-27T09:14:16Z</dcterms:created>
  <dcterms:modified xsi:type="dcterms:W3CDTF">2026-09-20T12:49:49Z</dcterms:modified>
  <cp:category/>
</cp:coreProperties>
</file>